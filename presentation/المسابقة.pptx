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0" r:id="rId1"/>
  </p:sld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smtClean="0"/>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114521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p>
            <a:fld id="{52647F38-B617-4D2F-AE0A-013F0C4D2C57}" type="datetimeFigureOut">
              <a:rPr lang="en-US" smtClean="0"/>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E97799C9-84D9-46D2-A11E-BCF8A720529D}" type="slidenum">
              <a:rPr lang="en-US" smtClean="0"/>
              <a:t>‹#›</a:t>
            </a:fld>
            <a:endParaRPr lang="en-US" dirty="0"/>
          </a:p>
        </p:txBody>
      </p:sp>
    </p:spTree>
    <p:extLst>
      <p:ext uri="{BB962C8B-B14F-4D97-AF65-F5344CB8AC3E}">
        <p14:creationId xmlns:p14="http://schemas.microsoft.com/office/powerpoint/2010/main" val="30645840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9627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5BFA754-D5C3-4E66-96A6-867B257F58DC}" type="datetimeFigureOut">
              <a:rPr lang="en-US" smtClean="0"/>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D84065D-F351-4B03-BD91-D8A6B8D4B362}" type="slidenum">
              <a:rPr lang="en-US" smtClean="0"/>
              <a:t>‹#›</a:t>
            </a:fld>
            <a:endParaRPr lang="en-US" dirty="0"/>
          </a:p>
        </p:txBody>
      </p:sp>
    </p:spTree>
    <p:extLst>
      <p:ext uri="{BB962C8B-B14F-4D97-AF65-F5344CB8AC3E}">
        <p14:creationId xmlns:p14="http://schemas.microsoft.com/office/powerpoint/2010/main" val="294524410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777365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7" name="Date Placeholder 2"/>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3"/>
          <p:cNvSpPr>
            <a:spLocks noGrp="1"/>
          </p:cNvSpPr>
          <p:nvPr>
            <p:ph type="ftr" sz="quarter" idx="11"/>
          </p:nvPr>
        </p:nvSpPr>
        <p:spPr/>
        <p:txBody>
          <a:bodyPr/>
          <a:lstStyle/>
          <a:p>
            <a:endParaRPr lang="en-US" dirty="0"/>
          </a:p>
        </p:txBody>
      </p:sp>
      <p:sp>
        <p:nvSpPr>
          <p:cNvPr id="6"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96344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2"/>
          <p:cNvSpPr>
            <a:spLocks noGrp="1"/>
          </p:cNvSpPr>
          <p:nvPr>
            <p:ph type="ftr" sz="quarter" idx="11"/>
          </p:nvPr>
        </p:nvSpPr>
        <p:spPr/>
        <p:txBody>
          <a:bodyPr/>
          <a:lstStyle/>
          <a:p>
            <a:endParaRPr lang="en-US" dirty="0"/>
          </a:p>
        </p:txBody>
      </p:sp>
      <p:sp>
        <p:nvSpPr>
          <p:cNvPr id="6"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10943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7" name="Date Placeholder 4"/>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5"/>
          <p:cNvSpPr>
            <a:spLocks noGrp="1"/>
          </p:cNvSpPr>
          <p:nvPr>
            <p:ph type="ftr" sz="quarter" idx="11"/>
          </p:nvPr>
        </p:nvSpPr>
        <p:spPr/>
        <p:txBody>
          <a:bodyPr/>
          <a:lstStyle/>
          <a:p>
            <a:endParaRPr lang="en-US" dirty="0"/>
          </a:p>
        </p:txBody>
      </p:sp>
      <p:sp>
        <p:nvSpPr>
          <p:cNvPr id="6"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629224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0982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806492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smtClean="0"/>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0222300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smtClean="0"/>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smtClean="0"/>
              <a:t>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172323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372949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17080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smtClean="0"/>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4"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776030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11691024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431243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smtClean="0"/>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B61BEF0D-F0BB-DE4B-95CE-6DB70DBA9567}" type="datetimeFigureOut">
              <a:rPr lang="en-US" smtClean="0"/>
              <a:pPr/>
              <a:t>11/14/2025</a:t>
            </a:fld>
            <a:endParaRPr lang="en-US" dirty="0"/>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dirty="0"/>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45871558"/>
      </p:ext>
    </p:extLst>
  </p:cSld>
  <p:clrMap bg1="dk1" tx1="lt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3" r:id="rId13"/>
    <p:sldLayoutId id="2147483684" r:id="rId14"/>
    <p:sldLayoutId id="2147483685" r:id="rId15"/>
    <p:sldLayoutId id="2147483686" r:id="rId16"/>
    <p:sldLayoutId id="2147483687" r:id="rId17"/>
  </p:sldLayoutIdLst>
  <p:txStyles>
    <p:titleStyle>
      <a:lvl1pPr algn="l" defTabSz="457200" rtl="1" eaLnBrk="1" latinLnBrk="0" hangingPunct="1">
        <a:spcBef>
          <a:spcPct val="0"/>
        </a:spcBef>
        <a:buNone/>
        <a:defRPr sz="4200" b="0" i="0" kern="1200">
          <a:solidFill>
            <a:schemeClr val="tx2"/>
          </a:solidFill>
          <a:latin typeface="+mj-lt"/>
          <a:ea typeface="+mj-ea"/>
          <a:cs typeface="+mj-cs"/>
        </a:defRPr>
      </a:lvl1pPr>
      <a:lvl2pPr rtl="1" eaLnBrk="1" hangingPunct="1">
        <a:defRPr>
          <a:solidFill>
            <a:schemeClr val="tx2"/>
          </a:solidFill>
        </a:defRPr>
      </a:lvl2pPr>
      <a:lvl3pPr rtl="1" eaLnBrk="1" hangingPunct="1">
        <a:defRPr>
          <a:solidFill>
            <a:schemeClr val="tx2"/>
          </a:solidFill>
        </a:defRPr>
      </a:lvl3pPr>
      <a:lvl4pPr rtl="1" eaLnBrk="1" hangingPunct="1">
        <a:defRPr>
          <a:solidFill>
            <a:schemeClr val="tx2"/>
          </a:solidFill>
        </a:defRPr>
      </a:lvl4pPr>
      <a:lvl5pPr rtl="1" eaLnBrk="1" hangingPunct="1">
        <a:defRPr>
          <a:solidFill>
            <a:schemeClr val="tx2"/>
          </a:solidFill>
        </a:defRPr>
      </a:lvl5pPr>
      <a:lvl6pPr rtl="1" eaLnBrk="1" hangingPunct="1">
        <a:defRPr>
          <a:solidFill>
            <a:schemeClr val="tx2"/>
          </a:solidFill>
        </a:defRPr>
      </a:lvl6pPr>
      <a:lvl7pPr rtl="1" eaLnBrk="1" hangingPunct="1">
        <a:defRPr>
          <a:solidFill>
            <a:schemeClr val="tx2"/>
          </a:solidFill>
        </a:defRPr>
      </a:lvl7pPr>
      <a:lvl8pPr rtl="1" eaLnBrk="1" hangingPunct="1">
        <a:defRPr>
          <a:solidFill>
            <a:schemeClr val="tx2"/>
          </a:solidFill>
        </a:defRPr>
      </a:lvl8pPr>
      <a:lvl9pPr rtl="1" eaLnBrk="1" hangingPunct="1">
        <a:defRPr>
          <a:solidFill>
            <a:schemeClr val="tx2"/>
          </a:solidFill>
        </a:defRPr>
      </a:lvl9pPr>
    </p:titleStyle>
    <p:bodyStyle>
      <a:lvl1pPr marL="342900" indent="-3429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r" defTabSz="457200" rtl="1"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r" defTabSz="457200" rtl="1" eaLnBrk="1" latinLnBrk="0" hangingPunct="1">
        <a:defRPr sz="1800" kern="1200">
          <a:solidFill>
            <a:schemeClr val="tx1"/>
          </a:solidFill>
          <a:latin typeface="+mn-lt"/>
          <a:ea typeface="+mn-ea"/>
          <a:cs typeface="+mn-cs"/>
        </a:defRPr>
      </a:lvl1pPr>
      <a:lvl2pPr marL="457200" algn="r" defTabSz="457200" rtl="1" eaLnBrk="1" latinLnBrk="0" hangingPunct="1">
        <a:defRPr sz="1800" kern="1200">
          <a:solidFill>
            <a:schemeClr val="tx1"/>
          </a:solidFill>
          <a:latin typeface="+mn-lt"/>
          <a:ea typeface="+mn-ea"/>
          <a:cs typeface="+mn-cs"/>
        </a:defRPr>
      </a:lvl2pPr>
      <a:lvl3pPr marL="914400" algn="r" defTabSz="457200" rtl="1" eaLnBrk="1" latinLnBrk="0" hangingPunct="1">
        <a:defRPr sz="1800" kern="1200">
          <a:solidFill>
            <a:schemeClr val="tx1"/>
          </a:solidFill>
          <a:latin typeface="+mn-lt"/>
          <a:ea typeface="+mn-ea"/>
          <a:cs typeface="+mn-cs"/>
        </a:defRPr>
      </a:lvl3pPr>
      <a:lvl4pPr marL="1371600" algn="r" defTabSz="457200" rtl="1" eaLnBrk="1" latinLnBrk="0" hangingPunct="1">
        <a:defRPr sz="1800" kern="1200">
          <a:solidFill>
            <a:schemeClr val="tx1"/>
          </a:solidFill>
          <a:latin typeface="+mn-lt"/>
          <a:ea typeface="+mn-ea"/>
          <a:cs typeface="+mn-cs"/>
        </a:defRPr>
      </a:lvl4pPr>
      <a:lvl5pPr marL="1828800" algn="r" defTabSz="457200" rtl="1" eaLnBrk="1" latinLnBrk="0" hangingPunct="1">
        <a:defRPr sz="1800" kern="1200">
          <a:solidFill>
            <a:schemeClr val="tx1"/>
          </a:solidFill>
          <a:latin typeface="+mn-lt"/>
          <a:ea typeface="+mn-ea"/>
          <a:cs typeface="+mn-cs"/>
        </a:defRPr>
      </a:lvl5pPr>
      <a:lvl6pPr marL="2286000" algn="r" defTabSz="457200" rtl="1" eaLnBrk="1" latinLnBrk="0" hangingPunct="1">
        <a:defRPr sz="1800" kern="1200">
          <a:solidFill>
            <a:schemeClr val="tx1"/>
          </a:solidFill>
          <a:latin typeface="+mn-lt"/>
          <a:ea typeface="+mn-ea"/>
          <a:cs typeface="+mn-cs"/>
        </a:defRPr>
      </a:lvl6pPr>
      <a:lvl7pPr marL="2743200" algn="r" defTabSz="457200" rtl="1" eaLnBrk="1" latinLnBrk="0" hangingPunct="1">
        <a:defRPr sz="1800" kern="1200">
          <a:solidFill>
            <a:schemeClr val="tx1"/>
          </a:solidFill>
          <a:latin typeface="+mn-lt"/>
          <a:ea typeface="+mn-ea"/>
          <a:cs typeface="+mn-cs"/>
        </a:defRPr>
      </a:lvl7pPr>
      <a:lvl8pPr marL="3200400" algn="r" defTabSz="457200" rtl="1" eaLnBrk="1" latinLnBrk="0" hangingPunct="1">
        <a:defRPr sz="1800" kern="1200">
          <a:solidFill>
            <a:schemeClr val="tx1"/>
          </a:solidFill>
          <a:latin typeface="+mn-lt"/>
          <a:ea typeface="+mn-ea"/>
          <a:cs typeface="+mn-cs"/>
        </a:defRPr>
      </a:lvl8pPr>
      <a:lvl9pPr marL="3657600" algn="r" defTabSz="4572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ubtitle 4"/>
          <p:cNvSpPr>
            <a:spLocks noGrp="1"/>
          </p:cNvSpPr>
          <p:nvPr>
            <p:ph type="subTitle" idx="1"/>
          </p:nvPr>
        </p:nvSpPr>
        <p:spPr>
          <a:xfrm>
            <a:off x="1154955" y="1149531"/>
            <a:ext cx="8825658" cy="4489269"/>
          </a:xfrm>
        </p:spPr>
        <p:txBody>
          <a:bodyPr/>
          <a:lstStyle/>
          <a:p>
            <a:pPr algn="ctr"/>
            <a:endParaRPr lang="ar-JO">
              <a:solidFill>
                <a:schemeClr val="tx1"/>
              </a:solidFill>
            </a:endParaRPr>
          </a:p>
          <a:p>
            <a:pPr algn="ctr"/>
            <a:r>
              <a:rPr lang="ar-JO" smtClean="0">
                <a:solidFill>
                  <a:schemeClr val="tx1"/>
                </a:solidFill>
              </a:rPr>
              <a:t>المقدمة:</a:t>
            </a:r>
          </a:p>
          <a:p>
            <a:pPr algn="ctr"/>
            <a:endParaRPr lang="ar-JO" smtClean="0">
              <a:solidFill>
                <a:schemeClr val="tx1"/>
              </a:solidFill>
            </a:endParaRPr>
          </a:p>
          <a:p>
            <a:pPr algn="ctr"/>
            <a:endParaRPr lang="ar-JO">
              <a:solidFill>
                <a:schemeClr val="tx1"/>
              </a:solidFill>
            </a:endParaRPr>
          </a:p>
          <a:p>
            <a:pPr algn="ctr"/>
            <a:endParaRPr lang="ar-JO">
              <a:solidFill>
                <a:schemeClr val="tx1"/>
              </a:solidFill>
            </a:endParaRPr>
          </a:p>
        </p:txBody>
      </p:sp>
      <p:sp>
        <p:nvSpPr>
          <p:cNvPr id="9" name="Rectangle 4"/>
          <p:cNvSpPr>
            <a:spLocks noChangeArrowheads="1"/>
          </p:cNvSpPr>
          <p:nvPr/>
        </p:nvSpPr>
        <p:spPr bwMode="auto">
          <a:xfrm>
            <a:off x="1558126" y="2164737"/>
            <a:ext cx="8352818" cy="36933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r" defTabSz="914400" rtl="0" eaLnBrk="0" fontAlgn="base" latinLnBrk="0" hangingPunct="0">
              <a:lnSpc>
                <a:spcPct val="100000"/>
              </a:lnSpc>
              <a:spcBef>
                <a:spcPct val="0"/>
              </a:spcBef>
              <a:spcAft>
                <a:spcPct val="0"/>
              </a:spcAft>
              <a:buClrTx/>
              <a:buSzTx/>
              <a:buFontTx/>
              <a:buNone/>
              <a:tabLst/>
            </a:pPr>
            <a:r>
              <a:rPr kumimoji="0" lang="ar-SA"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في عالم تتقن فيه التكنولوجيا وتتطور اللعب اليوم بعد يوم، فريقنا يقدم تجربة مختلفة بكثير بين</a:t>
            </a:r>
            <a:r>
              <a:rPr kumimoji="0" lang="ar-JO"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 </a:t>
            </a:r>
            <a:r>
              <a:rPr kumimoji="0" lang="ar-SA" altLang="ar-JO"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التفكير الكبير، المتعة، والتحدي</a:t>
            </a:r>
            <a:r>
              <a:rPr kumimoji="0" lang="ar-JO" altLang="ar-JO" sz="1800" b="0" i="0" u="none" strike="noStrike" cap="none" normalizeH="0" baseline="0" smtClean="0">
                <a:ln>
                  <a:noFill/>
                </a:ln>
                <a:solidFill>
                  <a:schemeClr val="tx1"/>
                </a:solidFill>
                <a:effectLst/>
                <a:latin typeface="Arial" panose="020B0604020202020204" pitchFamily="34" charset="0"/>
              </a:rPr>
              <a:t> . </a:t>
            </a:r>
            <a:r>
              <a:rPr kumimoji="0" lang="ar-SA"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لعبتنا ليست مجرد لعبة، بل هي</a:t>
            </a:r>
            <a:r>
              <a:rPr kumimoji="0" lang="ar-JO" altLang="ar-JO" sz="1800" b="0" i="0" u="none" strike="noStrike" cap="none" normalizeH="0" baseline="0" smtClean="0">
                <a:ln>
                  <a:noFill/>
                </a:ln>
                <a:solidFill>
                  <a:schemeClr val="tx1"/>
                </a:solidFill>
                <a:effectLst/>
                <a:latin typeface="Arial" panose="020B0604020202020204" pitchFamily="34" charset="0"/>
              </a:rPr>
              <a:t> </a:t>
            </a:r>
            <a:r>
              <a:rPr kumimoji="0" lang="ar-SA" altLang="ar-JO" sz="1800" b="1" i="0" u="none" strike="noStrike" cap="none" normalizeH="0" baseline="0" smtClean="0">
                <a:ln>
                  <a:noFill/>
                </a:ln>
                <a:solidFill>
                  <a:schemeClr val="tx1"/>
                </a:solidFill>
                <a:effectLst/>
                <a:latin typeface="Arial" panose="020B0604020202020204" pitchFamily="34" charset="0"/>
                <a:cs typeface="Arial" panose="020B0604020202020204" pitchFamily="34" charset="0"/>
              </a:rPr>
              <a:t>رحلة ذهنية</a:t>
            </a:r>
            <a:r>
              <a:rPr kumimoji="0" lang="ar-JO" altLang="ar-JO" sz="1800" b="0" i="0" u="none" strike="noStrike" cap="none" normalizeH="0" baseline="0" smtClean="0">
                <a:ln>
                  <a:noFill/>
                </a:ln>
                <a:solidFill>
                  <a:schemeClr val="tx1"/>
                </a:solidFill>
                <a:effectLst/>
                <a:latin typeface="Arial" panose="020B0604020202020204" pitchFamily="34" charset="0"/>
              </a:rPr>
              <a:t> </a:t>
            </a:r>
            <a:r>
              <a:rPr kumimoji="0" lang="ar-SA"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مهمة لتنمية مهارات التفكير، وتشجيع اللاعبين على حل الألغاز بطرق الاختيار</a:t>
            </a:r>
            <a:r>
              <a:rPr kumimoji="0" lang="ar-JO" altLang="ar-JO" sz="1800" b="0" i="0" u="none" strike="noStrike" cap="none" normalizeH="0" baseline="0" smtClean="0">
                <a:ln>
                  <a:noFill/>
                </a:ln>
                <a:solidFill>
                  <a:schemeClr val="tx1"/>
                </a:solidFill>
                <a:effectLst/>
                <a:latin typeface="Arial" panose="020B0604020202020204" pitchFamily="34" charset="0"/>
              </a:rPr>
              <a:t>.</a:t>
            </a:r>
          </a:p>
          <a:p>
            <a:pPr marL="0" marR="0" lvl="0" indent="0" algn="r" defTabSz="914400" rtl="0" eaLnBrk="0" fontAlgn="base" latinLnBrk="0" hangingPunct="0">
              <a:lnSpc>
                <a:spcPct val="100000"/>
              </a:lnSpc>
              <a:spcBef>
                <a:spcPct val="0"/>
              </a:spcBef>
              <a:spcAft>
                <a:spcPct val="0"/>
              </a:spcAft>
              <a:buClrTx/>
              <a:buSzTx/>
              <a:buFontTx/>
              <a:buNone/>
              <a:tabLst/>
            </a:pPr>
            <a:r>
              <a:rPr kumimoji="0" lang="ar-SA"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ستحقق هذه اللعبة لتكون قادرة على جميع البطولات، مع عناصر التشوهيق، الذكاء، والتدرّج في النجاح. هدفنا هو أن يعيش لاعبًا تجربة مليئة بالاكتشاف، وأن يشعر بالإنجاز مع كل لغز يقوم بحلّه</a:t>
            </a:r>
            <a:r>
              <a:rPr kumimoji="0" lang="ar-JO"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t>
            </a:r>
            <a:endParaRPr kumimoji="0" lang="ar-JO" altLang="ar-JO" sz="1800" b="0" i="0" u="none" strike="noStrike" cap="none" normalizeH="0" baseline="0" smtClean="0">
              <a:ln>
                <a:noFill/>
              </a:ln>
              <a:solidFill>
                <a:schemeClr val="tx1"/>
              </a:solidFill>
              <a:effectLst/>
              <a:latin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r>
              <a:rPr kumimoji="0" lang="ar-SA"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تمثل هذه اللعبة رؤية فريقنا في تحويل الأفكار المبتكرة إلى تجربة تفاعلية ممتعة، ونفتخر اليوم بتقديمها ضمن هذه </a:t>
            </a:r>
            <a:r>
              <a:rPr kumimoji="0" lang="ar-SA"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العناصر</a:t>
            </a:r>
            <a:r>
              <a:rPr kumimoji="0" lang="ar-JO"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rPr>
              <a:t>.</a:t>
            </a:r>
            <a:endParaRPr kumimoji="0" lang="en-US"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lang="en-US" altLang="ar-JO">
              <a:latin typeface="Arial" panose="020B0604020202020204" pitchFamily="34" charset="0"/>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lang="en-US" altLang="ar-JO">
              <a:latin typeface="Arial" panose="020B0604020202020204" pitchFamily="34" charset="0"/>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en-US" altLang="ar-JO" sz="1800" b="0" i="0" u="none" strike="noStrike" cap="none" normalizeH="0" baseline="0" smtClean="0">
              <a:ln>
                <a:noFill/>
              </a:ln>
              <a:solidFill>
                <a:schemeClr val="tx1"/>
              </a:solidFill>
              <a:effectLst/>
              <a:latin typeface="Arial" panose="020B0604020202020204" pitchFamily="34" charset="0"/>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lang="en-US" altLang="ar-JO">
              <a:latin typeface="Arial" panose="020B0604020202020204" pitchFamily="34" charset="0"/>
              <a:cs typeface="Arial" panose="020B0604020202020204" pitchFamily="34" charset="0"/>
            </a:endParaRPr>
          </a:p>
          <a:p>
            <a:pPr marL="0" marR="0" lvl="0" indent="0" algn="r" defTabSz="914400" rtl="0" eaLnBrk="0" fontAlgn="base" latinLnBrk="0" hangingPunct="0">
              <a:lnSpc>
                <a:spcPct val="100000"/>
              </a:lnSpc>
              <a:spcBef>
                <a:spcPct val="0"/>
              </a:spcBef>
              <a:spcAft>
                <a:spcPct val="0"/>
              </a:spcAft>
              <a:buClrTx/>
              <a:buSzTx/>
              <a:buFontTx/>
              <a:buNone/>
              <a:tabLst/>
            </a:pPr>
            <a:endParaRPr kumimoji="0" lang="ar-JO" altLang="ar-JO" sz="1800" b="0" i="0" u="none" strike="noStrike" cap="none" normalizeH="0" baseline="0" smtClean="0">
              <a:ln>
                <a:noFill/>
              </a:ln>
              <a:solidFill>
                <a:schemeClr val="tx1"/>
              </a:solidFill>
              <a:effectLst/>
              <a:latin typeface="Arial" panose="020B0604020202020204" pitchFamily="34" charset="0"/>
            </a:endParaRPr>
          </a:p>
        </p:txBody>
      </p:sp>
      <p:sp>
        <p:nvSpPr>
          <p:cNvPr id="11" name="Rectangle 6"/>
          <p:cNvSpPr>
            <a:spLocks noChangeArrowheads="1"/>
          </p:cNvSpPr>
          <p:nvPr/>
        </p:nvSpPr>
        <p:spPr bwMode="auto">
          <a:xfrm>
            <a:off x="0" y="473075"/>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ar-JO"/>
          </a:p>
        </p:txBody>
      </p:sp>
    </p:spTree>
    <p:extLst>
      <p:ext uri="{BB962C8B-B14F-4D97-AF65-F5344CB8AC3E}">
        <p14:creationId xmlns:p14="http://schemas.microsoft.com/office/powerpoint/2010/main" val="19159338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193074"/>
            <a:ext cx="9390517" cy="5055325"/>
          </a:xfrm>
        </p:spPr>
        <p:txBody>
          <a:bodyPr/>
          <a:lstStyle/>
          <a:p>
            <a:pPr marL="0" indent="0" algn="ctr">
              <a:buNone/>
            </a:pPr>
            <a:r>
              <a:rPr lang="ar-JO" smtClean="0"/>
              <a:t>من نحن:</a:t>
            </a:r>
          </a:p>
          <a:p>
            <a:pPr marL="0" indent="0">
              <a:buNone/>
            </a:pPr>
            <a:r>
              <a:rPr lang="ar-JO" smtClean="0"/>
              <a:t>نحن </a:t>
            </a:r>
            <a:r>
              <a:rPr lang="af-ZA" b="1" smtClean="0"/>
              <a:t>TEAM MAQLOUBA</a:t>
            </a:r>
            <a:r>
              <a:rPr lang="ar-JO"/>
              <a:t> </a:t>
            </a:r>
            <a:r>
              <a:rPr lang="ar-JO" smtClean="0"/>
              <a:t>نقدم تصميم وتطوير الالعاب الالكترونية ونسعى مستقبلا الى التوسع وفتح شركة لتصميم وتطوير الالعاب ونبني مجتمع متفتحاً </a:t>
            </a:r>
            <a:r>
              <a:rPr lang="ar-JO" smtClean="0">
                <a:effectLst>
                  <a:outerShdw blurRad="38100" dist="38100" dir="2700000" algn="tl">
                    <a:srgbClr val="000000">
                      <a:alpha val="43137"/>
                    </a:srgbClr>
                  </a:outerShdw>
                </a:effectLst>
              </a:rPr>
              <a:t>على المستقبل ونسعى ايضاً في ان نقوم بعمل دورة متكاملة للاشخاص الذين يسعون ويحبون ولديهم الشغف في تصمصم وتطوير الالعاب.</a:t>
            </a:r>
          </a:p>
          <a:p>
            <a:pPr marL="0" indent="0">
              <a:buNone/>
            </a:pPr>
            <a:r>
              <a:rPr lang="ar-JO" smtClean="0">
                <a:effectLst>
                  <a:outerShdw blurRad="38100" dist="38100" dir="2700000" algn="tl">
                    <a:srgbClr val="000000">
                      <a:alpha val="43137"/>
                    </a:srgbClr>
                  </a:outerShdw>
                </a:effectLst>
              </a:rPr>
              <a:t>نحن فريق من اربع اشخاص:</a:t>
            </a:r>
          </a:p>
          <a:p>
            <a:pPr marL="0" indent="0">
              <a:buNone/>
            </a:pPr>
            <a:r>
              <a:rPr lang="ar-JO" smtClean="0"/>
              <a:t>عمر </a:t>
            </a:r>
            <a:r>
              <a:rPr lang="ar-JO"/>
              <a:t>هيثم:وهو مسؤول عن (</a:t>
            </a:r>
            <a:r>
              <a:rPr lang="af-ZA"/>
              <a:t>Sound Effect</a:t>
            </a:r>
            <a:r>
              <a:rPr lang="ar-JO"/>
              <a:t>)المؤثرات الصوتية </a:t>
            </a:r>
            <a:r>
              <a:rPr lang="ar-JO"/>
              <a:t>وايجاد </a:t>
            </a:r>
            <a:r>
              <a:rPr lang="ar-JO" smtClean="0"/>
              <a:t>الافكارللعبة </a:t>
            </a:r>
            <a:endParaRPr lang="ar-JO"/>
          </a:p>
          <a:p>
            <a:pPr marL="0" indent="0">
              <a:buNone/>
            </a:pPr>
            <a:r>
              <a:rPr lang="ar-JO" smtClean="0">
                <a:effectLst>
                  <a:outerShdw blurRad="38100" dist="38100" dir="2700000" algn="tl">
                    <a:srgbClr val="000000">
                      <a:alpha val="43137"/>
                    </a:srgbClr>
                  </a:outerShdw>
                </a:effectLst>
              </a:rPr>
              <a:t> </a:t>
            </a:r>
            <a:r>
              <a:rPr lang="ar-JO">
                <a:effectLst>
                  <a:outerShdw blurRad="38100" dist="38100" dir="2700000" algn="tl">
                    <a:srgbClr val="000000">
                      <a:alpha val="43137"/>
                    </a:srgbClr>
                  </a:outerShdw>
                </a:effectLst>
              </a:rPr>
              <a:t>يوسف عطالله:وهو المسؤول عن رسم شخصيات اللعبة وتصميم </a:t>
            </a:r>
            <a:r>
              <a:rPr lang="ar-JO">
                <a:effectLst>
                  <a:outerShdw blurRad="38100" dist="38100" dir="2700000" algn="tl">
                    <a:srgbClr val="000000">
                      <a:alpha val="43137"/>
                    </a:srgbClr>
                  </a:outerShdw>
                </a:effectLst>
              </a:rPr>
              <a:t>حركات </a:t>
            </a:r>
            <a:r>
              <a:rPr lang="ar-JO" smtClean="0">
                <a:effectLst>
                  <a:outerShdw blurRad="38100" dist="38100" dir="2700000" algn="tl">
                    <a:srgbClr val="000000">
                      <a:alpha val="43137"/>
                    </a:srgbClr>
                  </a:outerShdw>
                </a:effectLst>
              </a:rPr>
              <a:t>الشخصية</a:t>
            </a:r>
            <a:endParaRPr lang="ar-JO" smtClean="0"/>
          </a:p>
          <a:p>
            <a:pPr marL="0" indent="0">
              <a:buNone/>
            </a:pPr>
            <a:r>
              <a:rPr lang="ar-JO" smtClean="0"/>
              <a:t>الطيب:وهو مسؤول عن تصميم اللعبة على(</a:t>
            </a:r>
            <a:r>
              <a:rPr lang="af-ZA" smtClean="0"/>
              <a:t>Unity</a:t>
            </a:r>
            <a:r>
              <a:rPr lang="ar-JO"/>
              <a:t>)</a:t>
            </a:r>
            <a:r>
              <a:rPr lang="ar-JO" smtClean="0"/>
              <a:t> او (</a:t>
            </a:r>
            <a:r>
              <a:rPr lang="en-US" smtClean="0"/>
              <a:t>Godot</a:t>
            </a:r>
            <a:r>
              <a:rPr lang="ar-JO" smtClean="0"/>
              <a:t>)</a:t>
            </a:r>
          </a:p>
          <a:p>
            <a:pPr marL="0" indent="0">
              <a:buNone/>
            </a:pPr>
            <a:r>
              <a:rPr lang="ar-JO"/>
              <a:t>غيث علان:وهو </a:t>
            </a:r>
            <a:r>
              <a:rPr lang="ar-JO"/>
              <a:t>مسؤول </a:t>
            </a:r>
            <a:r>
              <a:rPr lang="ar-JO" smtClean="0"/>
              <a:t>عن (</a:t>
            </a:r>
            <a:r>
              <a:rPr lang="af-ZA"/>
              <a:t>coding</a:t>
            </a:r>
            <a:r>
              <a:rPr lang="ar-JO" smtClean="0"/>
              <a:t>) </a:t>
            </a:r>
            <a:r>
              <a:rPr lang="ar-JO"/>
              <a:t>برمجة </a:t>
            </a:r>
            <a:r>
              <a:rPr lang="ar-JO" smtClean="0"/>
              <a:t>الالعاب</a:t>
            </a:r>
          </a:p>
        </p:txBody>
      </p:sp>
    </p:spTree>
    <p:extLst>
      <p:ext uri="{BB962C8B-B14F-4D97-AF65-F5344CB8AC3E}">
        <p14:creationId xmlns:p14="http://schemas.microsoft.com/office/powerpoint/2010/main" val="17933922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1001486"/>
            <a:ext cx="8946541" cy="5246913"/>
          </a:xfrm>
        </p:spPr>
        <p:txBody>
          <a:bodyPr/>
          <a:lstStyle/>
          <a:p>
            <a:pPr marL="0" indent="0" algn="ctr">
              <a:buNone/>
            </a:pPr>
            <a:r>
              <a:rPr lang="ar-JO" smtClean="0"/>
              <a:t>فكرة اللعبة:</a:t>
            </a:r>
          </a:p>
          <a:p>
            <a:pPr marL="0" indent="0" algn="ctr">
              <a:buNone/>
            </a:pPr>
            <a:endParaRPr lang="ar-JO" smtClean="0"/>
          </a:p>
          <a:p>
            <a:pPr marL="0" indent="0">
              <a:buNone/>
            </a:pPr>
            <a:r>
              <a:rPr lang="ar-JO"/>
              <a:t>تدور اللعبة حول لاعب عاد إلى لعبة الألغاز بعد غياب طويل </a:t>
            </a:r>
            <a:r>
              <a:rPr lang="ar-JO"/>
              <a:t>استمر </a:t>
            </a:r>
            <a:r>
              <a:rPr lang="ar-JO" b="1" smtClean="0"/>
              <a:t>سنوات طويله</a:t>
            </a:r>
            <a:r>
              <a:rPr lang="ar-JO" smtClean="0"/>
              <a:t>.</a:t>
            </a:r>
            <a:r>
              <a:rPr lang="ar-JO" b="1" smtClean="0"/>
              <a:t>استيقظ </a:t>
            </a:r>
            <a:r>
              <a:rPr lang="ar-JO" b="1"/>
              <a:t>غاضبًا</a:t>
            </a:r>
            <a:r>
              <a:rPr lang="ar-JO"/>
              <a:t> لأنك تركته وحيدًا طوال هذا الوقت.</a:t>
            </a:r>
            <a:br>
              <a:rPr lang="ar-JO"/>
            </a:br>
            <a:r>
              <a:rPr lang="ar-JO"/>
              <a:t>وبسبب غضبه، قرر أن </a:t>
            </a:r>
            <a:r>
              <a:rPr lang="ar-JO" b="1"/>
              <a:t>ينتقم منك بطريقته الخاصة</a:t>
            </a:r>
            <a:r>
              <a:rPr lang="ar-JO"/>
              <a:t>: بدأ يخرب عليك اللعبة، يغير القواعد، ويضع أفخاخًا جديدة، ويزيد من صعوبة الألغاز.</a:t>
            </a:r>
            <a:br>
              <a:rPr lang="ar-JO"/>
            </a:br>
            <a:r>
              <a:rPr lang="ar-JO"/>
              <a:t>الفكرة الأساسية هي أنك تحاول الهروب من سيطرة الراوي، وإكمال طريقك رغم محاولاته المستمرة لتعطيلك.</a:t>
            </a:r>
          </a:p>
          <a:p>
            <a:pPr marL="0" indent="0">
              <a:buNone/>
            </a:pPr>
            <a:endParaRPr lang="ar-JO"/>
          </a:p>
        </p:txBody>
      </p:sp>
    </p:spTree>
    <p:extLst>
      <p:ext uri="{BB962C8B-B14F-4D97-AF65-F5344CB8AC3E}">
        <p14:creationId xmlns:p14="http://schemas.microsoft.com/office/powerpoint/2010/main" val="42790230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809898"/>
            <a:ext cx="8946541" cy="5438502"/>
          </a:xfrm>
        </p:spPr>
        <p:txBody>
          <a:bodyPr/>
          <a:lstStyle/>
          <a:p>
            <a:pPr marL="0" indent="0" algn="ctr">
              <a:buNone/>
            </a:pPr>
            <a:r>
              <a:rPr lang="ar-JO" smtClean="0"/>
              <a:t>الجمهور المستهدف:</a:t>
            </a:r>
          </a:p>
          <a:p>
            <a:pPr marL="0" indent="0">
              <a:buNone/>
            </a:pPr>
            <a:r>
              <a:rPr lang="ar-JO"/>
              <a:t>اللعبة موجهة بشكل أساسي لمحبي:</a:t>
            </a:r>
          </a:p>
          <a:p>
            <a:pPr marL="0" indent="0">
              <a:buNone/>
            </a:pPr>
            <a:r>
              <a:rPr lang="ar-JO" b="1"/>
              <a:t>الألعاب الكوميدية</a:t>
            </a:r>
            <a:endParaRPr lang="ar-JO"/>
          </a:p>
          <a:p>
            <a:pPr marL="0" indent="0">
              <a:buNone/>
            </a:pPr>
            <a:r>
              <a:rPr lang="ar-JO" b="1"/>
              <a:t>ألعاب </a:t>
            </a:r>
            <a:r>
              <a:rPr lang="ar-JO" b="1"/>
              <a:t>الألغاز </a:t>
            </a:r>
            <a:r>
              <a:rPr lang="ar-JO" b="1" smtClean="0"/>
              <a:t>(</a:t>
            </a:r>
            <a:r>
              <a:rPr lang="af-ZA" b="1" smtClean="0"/>
              <a:t>Puzzles</a:t>
            </a:r>
            <a:r>
              <a:rPr lang="ar-JO" b="1" smtClean="0"/>
              <a:t>)</a:t>
            </a:r>
            <a:endParaRPr lang="af-ZA"/>
          </a:p>
          <a:p>
            <a:pPr marL="0" indent="0">
              <a:buNone/>
            </a:pPr>
            <a:r>
              <a:rPr lang="ar-JO" b="1"/>
              <a:t>الألعاب التي تجمع بين الفكاهة والتحدي</a:t>
            </a:r>
            <a:endParaRPr lang="ar-JO"/>
          </a:p>
          <a:p>
            <a:pPr marL="0" indent="0">
              <a:buNone/>
            </a:pPr>
            <a:r>
              <a:rPr lang="ar-JO" b="1"/>
              <a:t>اللاعبين الذين يحبون السرد القصصي المميز والتفاعل مع الراوي</a:t>
            </a:r>
            <a:endParaRPr lang="ar-JO"/>
          </a:p>
          <a:p>
            <a:pPr marL="0" indent="0">
              <a:buNone/>
            </a:pPr>
            <a:r>
              <a:rPr lang="ar-JO" smtClean="0"/>
              <a:t> </a:t>
            </a:r>
            <a:endParaRPr lang="ar-JO"/>
          </a:p>
        </p:txBody>
      </p:sp>
    </p:spTree>
    <p:extLst>
      <p:ext uri="{BB962C8B-B14F-4D97-AF65-F5344CB8AC3E}">
        <p14:creationId xmlns:p14="http://schemas.microsoft.com/office/powerpoint/2010/main" val="10277495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103312" y="714104"/>
            <a:ext cx="8946541" cy="5534296"/>
          </a:xfrm>
        </p:spPr>
        <p:txBody>
          <a:bodyPr/>
          <a:lstStyle/>
          <a:p>
            <a:pPr marL="0" indent="0">
              <a:buNone/>
            </a:pPr>
            <a:endParaRPr lang="ar-JO" smtClean="0"/>
          </a:p>
          <a:p>
            <a:pPr marL="0" indent="0" algn="ctr">
              <a:buNone/>
            </a:pPr>
            <a:r>
              <a:rPr lang="ar-JO" smtClean="0"/>
              <a:t>طرقة اللعب:</a:t>
            </a:r>
          </a:p>
          <a:p>
            <a:pPr marL="0" indent="0">
              <a:buNone/>
            </a:pPr>
            <a:r>
              <a:rPr lang="ar-JO" smtClean="0"/>
              <a:t>تعتمد </a:t>
            </a:r>
            <a:r>
              <a:rPr lang="ar-JO"/>
              <a:t>طريقة اللعب على مزيج من </a:t>
            </a:r>
            <a:r>
              <a:rPr lang="ar-JO" b="1"/>
              <a:t>حلّ الألغاز</a:t>
            </a:r>
            <a:r>
              <a:rPr lang="ar-JO"/>
              <a:t> و </a:t>
            </a:r>
            <a:r>
              <a:rPr lang="ar-JO" b="1"/>
              <a:t>تجنب الأفخاخ</a:t>
            </a:r>
            <a:r>
              <a:rPr lang="ar-JO"/>
              <a:t> التي يضعها الراوي الغاضب.</a:t>
            </a:r>
            <a:br>
              <a:rPr lang="ar-JO"/>
            </a:br>
            <a:r>
              <a:rPr lang="ar-JO"/>
              <a:t>اللاعب يحتاج إلى:</a:t>
            </a:r>
          </a:p>
          <a:p>
            <a:pPr marL="0" indent="0">
              <a:buNone/>
            </a:pPr>
            <a:r>
              <a:rPr lang="ar-JO"/>
              <a:t>التركيز لحل الألغاز المتنوعة</a:t>
            </a:r>
          </a:p>
          <a:p>
            <a:pPr marL="0" indent="0">
              <a:buNone/>
            </a:pPr>
            <a:r>
              <a:rPr lang="ar-JO"/>
              <a:t>تجنب الفخاخ المفاجئة</a:t>
            </a:r>
          </a:p>
          <a:p>
            <a:pPr marL="0" indent="0">
              <a:buNone/>
            </a:pPr>
            <a:r>
              <a:rPr lang="ar-JO"/>
              <a:t>تجاوز التحديات التي يصنعها الراوي لإيقافك</a:t>
            </a:r>
          </a:p>
          <a:p>
            <a:pPr marL="0" indent="0">
              <a:buNone/>
            </a:pPr>
            <a:r>
              <a:rPr lang="ar-JO"/>
              <a:t>الوصول إلى النهاية قبل أن يتمكن الراوي من إفشال مهمتك</a:t>
            </a:r>
          </a:p>
          <a:p>
            <a:pPr marL="0" indent="0">
              <a:buNone/>
            </a:pPr>
            <a:r>
              <a:rPr lang="ar-JO"/>
              <a:t>اللعبة تحتوي على </a:t>
            </a:r>
            <a:r>
              <a:rPr lang="ar-JO" b="1"/>
              <a:t>عدة أنواع من الألغاز</a:t>
            </a:r>
            <a:r>
              <a:rPr lang="ar-JO"/>
              <a:t>، وكل لغز يتغير حسب مزاج الراوي وتدخله المستمر.</a:t>
            </a:r>
          </a:p>
          <a:p>
            <a:endParaRPr lang="ar-JO"/>
          </a:p>
        </p:txBody>
      </p:sp>
    </p:spTree>
    <p:extLst>
      <p:ext uri="{BB962C8B-B14F-4D97-AF65-F5344CB8AC3E}">
        <p14:creationId xmlns:p14="http://schemas.microsoft.com/office/powerpoint/2010/main" val="310754040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158</TotalTime>
  <Words>275</Words>
  <Application>Microsoft Office PowerPoint</Application>
  <PresentationFormat>Widescreen</PresentationFormat>
  <Paragraphs>35</Paragraphs>
  <Slides>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vt:i4>
      </vt:variant>
    </vt:vector>
  </HeadingPairs>
  <TitlesOfParts>
    <vt:vector size="10" baseType="lpstr">
      <vt:lpstr>Arial</vt:lpstr>
      <vt:lpstr>Century Gothic</vt:lpstr>
      <vt:lpstr>Times New Roman</vt:lpstr>
      <vt:lpstr>Wingdings 3</vt:lpstr>
      <vt:lpstr>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yousef atalluh</dc:creator>
  <cp:lastModifiedBy>yousef atalluh</cp:lastModifiedBy>
  <cp:revision>7</cp:revision>
  <dcterms:created xsi:type="dcterms:W3CDTF">2025-11-14T17:58:31Z</dcterms:created>
  <dcterms:modified xsi:type="dcterms:W3CDTF">2025-11-14T20:37:03Z</dcterms:modified>
</cp:coreProperties>
</file>